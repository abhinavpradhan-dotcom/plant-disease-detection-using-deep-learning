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4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3527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t-disease-app-final-ppjpw5azn28mst3hdyeest.streamlit.app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D2B1F"/>
          </a:solidFill>
          <a:ln w="12700">
            <a:solidFill>
              <a:srgbClr val="0D2B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4572000" cy="4572000"/>
          </a:xfrm>
          <a:prstGeom prst="ellipse">
            <a:avLst/>
          </a:prstGeom>
          <a:solidFill>
            <a:srgbClr val="1B5E38">
              <a:alpha val="40000"/>
            </a:srgbClr>
          </a:solidFill>
          <a:ln w="12700">
            <a:solidFill>
              <a:srgbClr val="1B5E38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0A2416"/>
          </a:solidFill>
          <a:ln w="12700">
            <a:solidFill>
              <a:srgbClr val="0A24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743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🌿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 Disease Detection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CB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Image Classification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3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Deep Learning and YOLOv8 for Precision Agriculture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246120"/>
            <a:ext cx="1097280" cy="36576"/>
          </a:xfrm>
          <a:prstGeom prst="rect">
            <a:avLst/>
          </a:prstGeom>
          <a:solidFill>
            <a:srgbClr val="5CBA8A"/>
          </a:solidFill>
          <a:ln w="12700">
            <a:solidFill>
              <a:srgbClr val="5CB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383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3657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Abhinav Pradhan  ·  Mohit Anand  ·  Abhishek Singh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4023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 |  Final Project Presentation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91440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1B5E38">
              <a:alpha val="70000"/>
            </a:srgb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83479" y="1005840"/>
            <a:ext cx="1466557" cy="7244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5CB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50K+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309360" y="1188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Images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219456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1B5E38">
              <a:alpha val="70000"/>
            </a:srgb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83480" y="2285999"/>
            <a:ext cx="1280160" cy="6963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5CB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30936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Classes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347472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1B5E38">
              <a:alpha val="70000"/>
            </a:srgb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83480" y="35661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5CB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96%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309360" y="3749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5E38"/>
          </a:solidFill>
          <a:ln w="12700">
            <a:solidFill>
              <a:srgbClr val="1B5E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0" y="137160"/>
            <a:ext cx="640080" cy="640080"/>
          </a:xfrm>
          <a:prstGeom prst="ellipse">
            <a:avLst/>
          </a:prstGeom>
          <a:solidFill>
            <a:srgbClr val="5CBA8A"/>
          </a:solidFill>
          <a:ln w="12700">
            <a:solidFill>
              <a:srgbClr val="5CB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137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E8F5E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1417320"/>
            <a:ext cx="640080" cy="640080"/>
          </a:xfrm>
          <a:prstGeom prst="ellipse">
            <a:avLst/>
          </a:prstGeom>
          <a:solidFill>
            <a:srgbClr val="2D8653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🌱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21488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Impact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diseases cause 20–40% of global crop yield loss annually, threatening food security for billions.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E8F5E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06240" y="1417320"/>
            <a:ext cx="640080" cy="640080"/>
          </a:xfrm>
          <a:prstGeom prst="ellipse">
            <a:avLst/>
          </a:prstGeom>
          <a:solidFill>
            <a:srgbClr val="2D8653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37560" y="21488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Detection Challenges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260604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inspection is slow, costly, and error-prone — requiring expert agronomists with field experience.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28016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E8F5E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40880" y="1417320"/>
            <a:ext cx="640080" cy="640080"/>
          </a:xfrm>
          <a:prstGeom prst="ellipse">
            <a:avLst/>
          </a:prstGeom>
          <a:solidFill>
            <a:srgbClr val="2D8653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172200" y="21488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Objective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260604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automated ML system using  YOLOv8 for early, accurate, and scalable disease detection.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5E38"/>
          </a:solidFill>
          <a:ln w="12700">
            <a:solidFill>
              <a:srgbClr val="1B5E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0" y="137160"/>
            <a:ext cx="640080" cy="640080"/>
          </a:xfrm>
          <a:prstGeom prst="ellipse">
            <a:avLst/>
          </a:prstGeom>
          <a:solidFill>
            <a:srgbClr val="5CBA8A"/>
          </a:solidFill>
          <a:ln w="12700">
            <a:solidFill>
              <a:srgbClr val="5CB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137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1051560"/>
          </a:xfrm>
          <a:prstGeom prst="roundRect">
            <a:avLst>
              <a:gd name="adj" fmla="val 8696"/>
            </a:avLst>
          </a:prstGeom>
          <a:solidFill>
            <a:srgbClr val="0D2B1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353312"/>
            <a:ext cx="502920" cy="502920"/>
          </a:xfrm>
          <a:prstGeom prst="ellipse">
            <a:avLst/>
          </a:prstGeom>
          <a:solidFill>
            <a:srgbClr val="5CBA8A"/>
          </a:solidFill>
          <a:ln w="12700">
            <a:solidFill>
              <a:srgbClr val="5CB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53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17043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 Gap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5361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often cannot identify diseases until visible damage has already spread — by then, significant yield loss is inevitable.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286000"/>
            <a:ext cx="8412480" cy="1051560"/>
          </a:xfrm>
          <a:prstGeom prst="roundRect">
            <a:avLst>
              <a:gd name="adj" fmla="val 8696"/>
            </a:avLst>
          </a:prstGeom>
          <a:solidFill>
            <a:srgbClr val="E8F5E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542032"/>
            <a:ext cx="502920" cy="502920"/>
          </a:xfrm>
          <a:prstGeom prst="ellipse">
            <a:avLst/>
          </a:prstGeom>
          <a:solidFill>
            <a:srgbClr val="5CBA8A"/>
          </a:solidFill>
          <a:ln w="12700">
            <a:solidFill>
              <a:srgbClr val="5CB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542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2359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Consequences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272491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or missed diagnosis leads to crop loss, reduced yield, and increased pesticide costs across millions of farms.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474720"/>
            <a:ext cx="8412480" cy="1051560"/>
          </a:xfrm>
          <a:prstGeom prst="roundRect">
            <a:avLst>
              <a:gd name="adj" fmla="val 8696"/>
            </a:avLst>
          </a:prstGeom>
          <a:solidFill>
            <a:srgbClr val="E8F5E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730752"/>
            <a:ext cx="502920" cy="502920"/>
          </a:xfrm>
          <a:prstGeom prst="ellipse">
            <a:avLst/>
          </a:prstGeom>
          <a:solidFill>
            <a:srgbClr val="5CBA8A"/>
          </a:solidFill>
          <a:ln w="12700">
            <a:solidFill>
              <a:srgbClr val="5CB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730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354787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Need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391363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solution must be scalable, accurate, and accessible — working from a simple smartphone image to expert-level results.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5E38"/>
          </a:solidFill>
          <a:ln w="12700">
            <a:solidFill>
              <a:srgbClr val="1B5E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0" y="137160"/>
            <a:ext cx="640080" cy="640080"/>
          </a:xfrm>
          <a:prstGeom prst="ellipse">
            <a:avLst/>
          </a:prstGeom>
          <a:solidFill>
            <a:srgbClr val="5CBA8A"/>
          </a:solidFill>
          <a:ln w="12700">
            <a:solidFill>
              <a:srgbClr val="5CB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137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743200" cy="1645920"/>
          </a:xfrm>
          <a:prstGeom prst="roundRect">
            <a:avLst>
              <a:gd name="adj" fmla="val 6667"/>
            </a:avLst>
          </a:prstGeom>
          <a:solidFill>
            <a:srgbClr val="E8F5E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554480"/>
            <a:ext cx="502920" cy="502920"/>
          </a:xfrm>
          <a:prstGeom prst="ellipse">
            <a:avLst/>
          </a:prstGeom>
          <a:solidFill>
            <a:srgbClr val="2D8653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24128" y="1280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1664208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PlantVillage + Kaggle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50K+ leaf images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1097280"/>
            <a:ext cx="2743200" cy="1645920"/>
          </a:xfrm>
          <a:prstGeom prst="roundRect">
            <a:avLst>
              <a:gd name="adj" fmla="val 6667"/>
            </a:avLst>
          </a:prstGeom>
          <a:solidFill>
            <a:srgbClr val="E8F5E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554480"/>
            <a:ext cx="502920" cy="502920"/>
          </a:xfrm>
          <a:prstGeom prst="ellipse">
            <a:avLst/>
          </a:prstGeom>
          <a:solidFill>
            <a:srgbClr val="2D8653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04488" y="1280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04488" y="1664208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097280"/>
            <a:ext cx="2743200" cy="1645920"/>
          </a:xfrm>
          <a:prstGeom prst="roundRect">
            <a:avLst>
              <a:gd name="adj" fmla="val 6667"/>
            </a:avLst>
          </a:prstGeom>
          <a:solidFill>
            <a:srgbClr val="E8F5E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554480"/>
            <a:ext cx="502920" cy="502920"/>
          </a:xfrm>
          <a:prstGeom prst="ellipse">
            <a:avLst/>
          </a:prstGeom>
          <a:solidFill>
            <a:srgbClr val="2D8653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84848" y="1280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84848" y="1664208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971800"/>
            <a:ext cx="2743200" cy="1645920"/>
          </a:xfrm>
          <a:prstGeom prst="roundRect">
            <a:avLst>
              <a:gd name="adj" fmla="val 6667"/>
            </a:avLst>
          </a:prstGeom>
          <a:solidFill>
            <a:srgbClr val="E8F5E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429000"/>
            <a:ext cx="502920" cy="502920"/>
          </a:xfrm>
          <a:prstGeom prst="ellipse">
            <a:avLst/>
          </a:prstGeom>
          <a:solidFill>
            <a:srgbClr val="2D8653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24128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24128" y="3538728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optimization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54680" y="2971800"/>
            <a:ext cx="2743200" cy="1645920"/>
          </a:xfrm>
          <a:prstGeom prst="roundRect">
            <a:avLst>
              <a:gd name="adj" fmla="val 6667"/>
            </a:avLst>
          </a:prstGeom>
          <a:solidFill>
            <a:srgbClr val="E8F5E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91840" y="3429000"/>
            <a:ext cx="502920" cy="502920"/>
          </a:xfrm>
          <a:prstGeom prst="ellipse">
            <a:avLst/>
          </a:prstGeom>
          <a:solidFill>
            <a:srgbClr val="2D8653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04488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904488" y="3538728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96%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35040" y="2971800"/>
            <a:ext cx="2743200" cy="1645920"/>
          </a:xfrm>
          <a:prstGeom prst="roundRect">
            <a:avLst>
              <a:gd name="adj" fmla="val 6667"/>
            </a:avLst>
          </a:prstGeom>
          <a:solidFill>
            <a:srgbClr val="E8F5E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72200" y="3429000"/>
            <a:ext cx="502920" cy="502920"/>
          </a:xfrm>
          <a:prstGeom prst="ellipse">
            <a:avLst/>
          </a:prstGeom>
          <a:solidFill>
            <a:srgbClr val="2D8653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784848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784848" y="3538728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5E38"/>
          </a:solidFill>
          <a:ln w="12700">
            <a:solidFill>
              <a:srgbClr val="1B5E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0" y="137160"/>
            <a:ext cx="640080" cy="640080"/>
          </a:xfrm>
          <a:prstGeom prst="ellipse">
            <a:avLst/>
          </a:prstGeom>
          <a:solidFill>
            <a:srgbClr val="5CBA8A"/>
          </a:solidFill>
          <a:ln w="12700">
            <a:solidFill>
              <a:srgbClr val="5CB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137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E8F5E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201168" cy="777240"/>
          </a:xfrm>
          <a:prstGeom prst="rect">
            <a:avLst/>
          </a:prstGeom>
          <a:solidFill>
            <a:srgbClr val="2D8653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097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8988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all images → 416×416 px for uniform input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947672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E8F5E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947672"/>
            <a:ext cx="201168" cy="777240"/>
          </a:xfrm>
          <a:prstGeom prst="rect">
            <a:avLst/>
          </a:prstGeom>
          <a:solidFill>
            <a:srgbClr val="2D8653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9933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2860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Flips, rotations, brightness shifts to prevent overfitting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843784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E8F5E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843784"/>
            <a:ext cx="201168" cy="777240"/>
          </a:xfrm>
          <a:prstGeom prst="rect">
            <a:avLst/>
          </a:prstGeom>
          <a:solidFill>
            <a:srgbClr val="2D8653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8895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18211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pixel values [0,1] for stable gradient descent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739896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E8F5E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739896"/>
            <a:ext cx="201168" cy="777240"/>
          </a:xfrm>
          <a:prstGeom prst="rect">
            <a:avLst/>
          </a:prstGeom>
          <a:solidFill>
            <a:srgbClr val="2D8653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78561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407822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labels → YOLO bounding box format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0" y="1051560"/>
            <a:ext cx="4297680" cy="3840480"/>
          </a:xfrm>
          <a:prstGeom prst="roundRect">
            <a:avLst>
              <a:gd name="adj" fmla="val 1905"/>
            </a:avLst>
          </a:prstGeom>
          <a:solidFill>
            <a:srgbClr val="1E2D3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116128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73752" y="116128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38344" y="116128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325880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Data Cleaning Pipeline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clean_image(src, dst, image_size=416):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Image.open(src) as img: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img.verify()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Image.open(src) as img: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img = ImageOps.exif_transpose(img)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img = img.convert("RGB")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img = img.resize(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(image_size, image_size),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Image.Resampling.LANCZOS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dst.parent.mkdir(parents=True,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exist_ok=True)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img.save(dst, format="JPEG",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quality=95)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True, ""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except (OSError, UnidentifiedImageError) as e: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False, str(e)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Augmentation config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IMAGE_SIZE = 416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VAL_RATIO  = 0.2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       = 42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DROP_EMPTY = True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5E38"/>
          </a:solidFill>
          <a:ln w="12700">
            <a:solidFill>
              <a:srgbClr val="1B5E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Pipeline Implementation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0" y="137160"/>
            <a:ext cx="640080" cy="640080"/>
          </a:xfrm>
          <a:prstGeom prst="ellipse">
            <a:avLst/>
          </a:prstGeom>
          <a:solidFill>
            <a:srgbClr val="5CBA8A"/>
          </a:solidFill>
          <a:ln w="12700">
            <a:solidFill>
              <a:srgbClr val="5CB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137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297680" cy="3200400"/>
          </a:xfrm>
          <a:prstGeom prst="roundRect">
            <a:avLst>
              <a:gd name="adj" fmla="val 2286"/>
            </a:avLst>
          </a:prstGeom>
          <a:solidFill>
            <a:srgbClr val="1E2D3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6128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" y="116128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" y="116128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25880"/>
            <a:ext cx="41148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Train/Val stratified split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split_train_val(records, val_ratio=0.2, seed=42):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random.seed(seed)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by_class = defaultdict(list)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record in records: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by_class[record["main_class"]].append(record)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train_records, val_records = [], []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class_id, class_records in by_class.items():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random.shuffle(class_records)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val_count = round(len(class_records)*val_ratio)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val_count = max(1, val_count) if len(class_records)&gt;1 else 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val_records.extend(class_records[:val_count])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train_records.extend(class_records[val_count:])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train_records, val_records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4114800" cy="3200400"/>
          </a:xfrm>
          <a:prstGeom prst="roundRect">
            <a:avLst>
              <a:gd name="adj" fmla="val 2286"/>
            </a:avLst>
          </a:prstGeom>
          <a:solidFill>
            <a:srgbClr val="1E2D3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92040" y="116128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56632" y="116128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21224" y="116128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32588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YOLO label validation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clean_label(src, dst, class_count):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valid_lines = []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line in open(src).readlines():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parts = line.strip().split()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len(parts) != 5: continue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class_id = int(float(parts[0]))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x,y,w,h = map(float, parts[1:])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class_id &lt; 0 or class_id &gt;= class_count: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continue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all(0 &lt;= v &lt;= 1 for v in [x,y,w,h]):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continue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w &lt;= 0 or h &lt;= 0: continue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valid_lines.append(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f"{class_id} {x:.6f} {y:.6f} {w:.6f} {h:.6f}"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valid_lines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" y="44348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splitting ensures balanced class representation across train/val/test sets — critical for unbiased model evaluation.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5E38"/>
          </a:solidFill>
          <a:ln w="12700">
            <a:solidFill>
              <a:srgbClr val="1B5E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Training Setup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0" y="137160"/>
            <a:ext cx="640080" cy="640080"/>
          </a:xfrm>
          <a:prstGeom prst="ellipse">
            <a:avLst/>
          </a:prstGeom>
          <a:solidFill>
            <a:srgbClr val="5CBA8A"/>
          </a:solidFill>
          <a:ln w="12700">
            <a:solidFill>
              <a:srgbClr val="5CB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137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4846320" cy="332841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learning rate for faster convergence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Function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 Cross-Entropy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Ideal for multi-class classification tasks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stopping to prevent overfitting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Optimized for GPU memory utilization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Size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416×416 px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YOLO-compatible input resolution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stop trigger on no val improvement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394960" y="1097280"/>
            <a:ext cx="3474720" cy="3749040"/>
          </a:xfrm>
          <a:prstGeom prst="roundRect">
            <a:avLst>
              <a:gd name="adj" fmla="val 2105"/>
            </a:avLst>
          </a:prstGeom>
          <a:solidFill>
            <a:srgbClr val="1E2D3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5"/>
          <p:cNvSpPr/>
          <p:nvPr/>
        </p:nvSpPr>
        <p:spPr>
          <a:xfrm>
            <a:off x="5532120" y="120700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96712" y="120700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61304" y="120700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0" y="1371600"/>
            <a:ext cx="3291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Full training configuration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YOLO("yolov8n.pt")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model.train(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data=str(yaml_path),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epochs=10,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imgsz=416,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batch=16,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name="plant_disease_detection",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patience=10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Data YAML structure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data_yaml =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"path": str(OUTPUT_DIR),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"train": "images/train",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"val":   "images/val",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"test":  "images/test",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"nc":    len(class_names),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"names": class_names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open(yaml_path, "w") as f: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yaml.dump(data_yaml, f,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sort_keys=False)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5E38"/>
          </a:solidFill>
          <a:ln w="12700">
            <a:solidFill>
              <a:srgbClr val="1B5E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0" y="137160"/>
            <a:ext cx="640080" cy="640080"/>
          </a:xfrm>
          <a:prstGeom prst="ellipse">
            <a:avLst/>
          </a:prstGeom>
          <a:solidFill>
            <a:srgbClr val="5CBA8A"/>
          </a:solidFill>
          <a:ln w="12700">
            <a:solidFill>
              <a:srgbClr val="5CB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137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286000" cy="1828800"/>
          </a:xfrm>
          <a:prstGeom prst="roundRect">
            <a:avLst>
              <a:gd name="adj" fmla="val 6000"/>
            </a:avLst>
          </a:prstGeom>
          <a:solidFill>
            <a:srgbClr val="0D2B1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2344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5CB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274320" y="22860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1097280"/>
            <a:ext cx="5943600" cy="768096"/>
          </a:xfrm>
          <a:prstGeom prst="roundRect">
            <a:avLst>
              <a:gd name="adj" fmla="val 9524"/>
            </a:avLst>
          </a:prstGeom>
          <a:solidFill>
            <a:srgbClr val="E8F5E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26080" y="118872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8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94.2%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023360" y="114300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23360" y="14813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positives / All positives predicted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834640" y="1984248"/>
            <a:ext cx="5943600" cy="768096"/>
          </a:xfrm>
          <a:prstGeom prst="roundRect">
            <a:avLst>
              <a:gd name="adj" fmla="val 9524"/>
            </a:avLst>
          </a:prstGeom>
          <a:solidFill>
            <a:srgbClr val="E8F5E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926080" y="207568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8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93.8%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023360" y="202996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23360" y="23682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positives / All actual positives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834640" y="2871216"/>
            <a:ext cx="5943600" cy="768096"/>
          </a:xfrm>
          <a:prstGeom prst="roundRect">
            <a:avLst>
              <a:gd name="adj" fmla="val 9524"/>
            </a:avLst>
          </a:prstGeom>
          <a:solidFill>
            <a:srgbClr val="E8F5E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926080" y="2962656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8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94.0%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023360" y="291693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23360" y="32552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Precision &amp; Recall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834640" y="3758184"/>
            <a:ext cx="5943600" cy="768096"/>
          </a:xfrm>
          <a:prstGeom prst="roundRect">
            <a:avLst>
              <a:gd name="adj" fmla="val 9524"/>
            </a:avLst>
          </a:prstGeom>
          <a:solidFill>
            <a:srgbClr val="E8F5E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926080" y="3849624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8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91.5%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023360" y="380390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023360" y="41422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Average Precision at IoU=0.50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063240"/>
            <a:ext cx="4572000" cy="1783080"/>
          </a:xfrm>
          <a:prstGeom prst="roundRect">
            <a:avLst>
              <a:gd name="adj" fmla="val 4103"/>
            </a:avLst>
          </a:prstGeom>
          <a:solidFill>
            <a:srgbClr val="1E2D3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317296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6072" y="317296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0664" y="317296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337560"/>
            <a:ext cx="43891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Load best trained model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best_path = list(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Path("/content/runs").rglob("best.pt")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)[-1]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YOLO(str(best_path))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 = model.val(data=yaml_path)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print("Precision:", metrics.box.mp)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print("Recall:   ", metrics.box.mr)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print("mAP50:    ", metrics.box.map50)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5E38"/>
          </a:solidFill>
          <a:ln w="12700">
            <a:solidFill>
              <a:srgbClr val="1B5E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Stack &amp; Ecosystem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0" y="137160"/>
            <a:ext cx="640080" cy="640080"/>
          </a:xfrm>
          <a:prstGeom prst="ellipse">
            <a:avLst/>
          </a:prstGeom>
          <a:solidFill>
            <a:srgbClr val="5CBA8A"/>
          </a:solidFill>
          <a:ln w="12700">
            <a:solidFill>
              <a:srgbClr val="5CB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137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E8F5E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18872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B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data engineering &amp; modeling lifecycle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0" y="109728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E8F5E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4800600" y="118872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554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00600" y="1490472"/>
            <a:ext cx="3794760" cy="5985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B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— tensor computation for YOLOv8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97180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E8F5E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306324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429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B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— real-time transformations &amp; bounding-box overlays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794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B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 — YOLOv8 training &amp; inference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97180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E8F5E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8" name="Text 16"/>
          <p:cNvSpPr/>
          <p:nvPr/>
        </p:nvSpPr>
        <p:spPr>
          <a:xfrm>
            <a:off x="4800600" y="306324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235569"/>
            <a:ext cx="3749040" cy="11183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000" dirty="0"/>
              <a:t>✅ Google </a:t>
            </a:r>
            <a:r>
              <a:rPr lang="en-IN" sz="1000" dirty="0" err="1"/>
              <a:t>Colab</a:t>
            </a:r>
            <a:r>
              <a:rPr lang="en-IN" sz="1000" dirty="0"/>
              <a:t> for model training</a:t>
            </a:r>
            <a:br>
              <a:rPr lang="en-IN" sz="1000" dirty="0"/>
            </a:br>
            <a:r>
              <a:rPr lang="en-IN" sz="1000" dirty="0"/>
              <a:t>✅ </a:t>
            </a:r>
            <a:r>
              <a:rPr lang="en-IN" sz="1000" dirty="0" err="1"/>
              <a:t>Streamlit</a:t>
            </a:r>
            <a:r>
              <a:rPr lang="en-IN" sz="1000" dirty="0"/>
              <a:t> for the web application interface</a:t>
            </a:r>
            <a:br>
              <a:rPr lang="en-IN" sz="1000" dirty="0"/>
            </a:br>
            <a:r>
              <a:rPr lang="en-IN" sz="1000" dirty="0"/>
              <a:t>✅ YOLOv8 (</a:t>
            </a:r>
            <a:r>
              <a:rPr lang="en-IN" sz="1000" dirty="0" err="1"/>
              <a:t>Ultralytics</a:t>
            </a:r>
            <a:r>
              <a:rPr lang="en-IN" sz="1000" dirty="0"/>
              <a:t>) as the prediction engine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3794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B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41605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B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5E38"/>
          </a:solidFill>
          <a:ln w="12700">
            <a:solidFill>
              <a:srgbClr val="1B5E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Inference &amp; Prediction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0" y="137160"/>
            <a:ext cx="640080" cy="640080"/>
          </a:xfrm>
          <a:prstGeom prst="ellipse">
            <a:avLst/>
          </a:prstGeom>
          <a:solidFill>
            <a:srgbClr val="5CBA8A"/>
          </a:solidFill>
          <a:ln w="12700">
            <a:solidFill>
              <a:srgbClr val="5CB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137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572000" cy="3749040"/>
          </a:xfrm>
          <a:prstGeom prst="roundRect">
            <a:avLst>
              <a:gd name="adj" fmla="val 1951"/>
            </a:avLst>
          </a:prstGeom>
          <a:solidFill>
            <a:srgbClr val="1E2D3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0700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" y="120700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" y="120700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71600"/>
            <a:ext cx="43891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 prediction on uploaded leaf image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 = model.predict(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source=str(image_path),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imgsz=416,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conf=0.25,          # confidence threshold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save=True,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project="/content/predictions",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name="uploaded_image_result",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exist_ok=True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print("Prediction completed.")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Display annotated result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IPython.display import Image, display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glob, os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predicted_images = glob.glob(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"/content/predictions/uploaded_image_result/*"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image_files = [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 for f in predicted_images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f.lower().endswith((".jpg",".jpeg",".png"))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image_files: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latest = max(image_files, key=os.path.getctime)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display(Image(filename=latest))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120640" y="1097280"/>
            <a:ext cx="3749040" cy="822960"/>
          </a:xfrm>
          <a:prstGeom prst="roundRect">
            <a:avLst>
              <a:gd name="adj" fmla="val 10000"/>
            </a:avLst>
          </a:prstGeom>
          <a:solidFill>
            <a:srgbClr val="E8F5E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257800" y="116128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8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conf=0.25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57800" y="149961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confidence threshold for a detection to be reported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120640" y="2075688"/>
            <a:ext cx="3749040" cy="822960"/>
          </a:xfrm>
          <a:prstGeom prst="roundRect">
            <a:avLst>
              <a:gd name="adj" fmla="val 10000"/>
            </a:avLst>
          </a:prstGeom>
          <a:solidFill>
            <a:srgbClr val="E8F5E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57800" y="213969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8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imgsz=416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57800" y="247802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compatible input resolution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120640" y="3054096"/>
            <a:ext cx="3749040" cy="822960"/>
          </a:xfrm>
          <a:prstGeom prst="roundRect">
            <a:avLst>
              <a:gd name="adj" fmla="val 10000"/>
            </a:avLst>
          </a:prstGeom>
          <a:solidFill>
            <a:srgbClr val="E8F5E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57800" y="311810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8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save=True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57800" y="34564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prediction image saved to disk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120640" y="4032504"/>
            <a:ext cx="3749040" cy="822960"/>
          </a:xfrm>
          <a:prstGeom prst="roundRect">
            <a:avLst>
              <a:gd name="adj" fmla="val 10000"/>
            </a:avLst>
          </a:prstGeom>
          <a:solidFill>
            <a:srgbClr val="E8F5E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257800" y="409651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86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exist_ok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57800" y="4434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Overwrites prior results without errors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74320" y="48920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inference is also supported — pass a list of image paths for simultaneous multi-image prediction.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5E38"/>
          </a:solidFill>
          <a:ln w="12700">
            <a:solidFill>
              <a:srgbClr val="1B5E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Applications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0" y="137160"/>
            <a:ext cx="640080" cy="640080"/>
          </a:xfrm>
          <a:prstGeom prst="ellipse">
            <a:avLst/>
          </a:prstGeom>
          <a:solidFill>
            <a:srgbClr val="5CBA8A"/>
          </a:solidFill>
          <a:ln w="12700">
            <a:solidFill>
              <a:srgbClr val="5CB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137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2697480" cy="3291840"/>
          </a:xfrm>
          <a:prstGeom prst="roundRect">
            <a:avLst>
              <a:gd name="adj" fmla="val 4746"/>
            </a:avLst>
          </a:prstGeom>
          <a:solidFill>
            <a:srgbClr val="E8F5E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25880" y="1371600"/>
            <a:ext cx="658368" cy="658368"/>
          </a:xfrm>
          <a:prstGeom prst="ellipse">
            <a:avLst/>
          </a:prstGeom>
          <a:solidFill>
            <a:srgbClr val="2D8653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3716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21488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24231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Handheld diagnostics for real-time field scouting. Farmers upload leaf photos from smartphones and get instant diagnoses.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188720"/>
            <a:ext cx="2697480" cy="3291840"/>
          </a:xfrm>
          <a:prstGeom prst="roundRect">
            <a:avLst>
              <a:gd name="adj" fmla="val 4746"/>
            </a:avLst>
          </a:prstGeom>
          <a:solidFill>
            <a:srgbClr val="0D2B1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06240" y="1371600"/>
            <a:ext cx="658368" cy="658368"/>
          </a:xfrm>
          <a:prstGeom prst="ellipse">
            <a:avLst/>
          </a:prstGeom>
          <a:solidFill>
            <a:srgbClr val="2D8653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13716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🚁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91840" y="21488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Surveys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2606040"/>
            <a:ext cx="24231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0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Aerial mapping of infection hotspots over large farms, enabling precision treatment before disease spreads.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0760" y="1188720"/>
            <a:ext cx="2697480" cy="3291840"/>
          </a:xfrm>
          <a:prstGeom prst="roundRect">
            <a:avLst>
              <a:gd name="adj" fmla="val 4746"/>
            </a:avLst>
          </a:prstGeom>
          <a:solidFill>
            <a:srgbClr val="E8F5E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86600" y="1371600"/>
            <a:ext cx="658368" cy="658368"/>
          </a:xfrm>
          <a:prstGeom prst="ellipse">
            <a:avLst/>
          </a:prstGeom>
          <a:solidFill>
            <a:srgbClr val="2D8653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86600" y="13716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72200" y="21488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Agri-Robotics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2606040"/>
            <a:ext cx="24231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with automated sprayers for targeted, minimal-chemical-use treatment based on detected disease zones.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5E38"/>
          </a:solidFill>
          <a:ln w="12700">
            <a:solidFill>
              <a:srgbClr val="1B5E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References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0" y="137160"/>
            <a:ext cx="640080" cy="640080"/>
          </a:xfrm>
          <a:prstGeom prst="ellipse">
            <a:avLst/>
          </a:prstGeom>
          <a:solidFill>
            <a:srgbClr val="5CBA8A"/>
          </a:solidFill>
          <a:ln w="12700">
            <a:solidFill>
              <a:srgbClr val="5CB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137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26517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PlantVillage Dataset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source for 50,000+ labeled leaf disease images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https://plantvillage.psu.edu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Ultralytics YOLOv8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object detection framework and benchmarks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https://ultralytics.com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Schmidhuber et al.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Foundational research on Deep Learning architectures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Transactions 2015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OpenCV Docs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processing and computer vision libraries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https://opencv.org/docs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2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6400800" cy="6400800"/>
          </a:xfrm>
          <a:prstGeom prst="ellipse">
            <a:avLst/>
          </a:prstGeom>
          <a:solidFill>
            <a:srgbClr val="1B5E38">
              <a:alpha val="35000"/>
            </a:srgbClr>
          </a:solidFill>
          <a:ln w="12700">
            <a:solidFill>
              <a:srgbClr val="1B5E38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2286000"/>
            <a:ext cx="4572000" cy="4572000"/>
          </a:xfrm>
          <a:prstGeom prst="ellipse">
            <a:avLst/>
          </a:prstGeom>
          <a:solidFill>
            <a:srgbClr val="2D8653">
              <a:alpha val="30000"/>
            </a:srgbClr>
          </a:solidFill>
          <a:ln w="12700">
            <a:solidFill>
              <a:srgbClr val="2D8653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B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56032" cy="256032"/>
          </a:xfrm>
          <a:prstGeom prst="ellipse">
            <a:avLst/>
          </a:prstGeom>
          <a:solidFill>
            <a:srgbClr val="5CBA8A"/>
          </a:solidFill>
          <a:ln w="12700">
            <a:solidFill>
              <a:srgbClr val="5CB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7276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developed an image classification system for early plant disease detection.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21992"/>
            <a:ext cx="256032" cy="256032"/>
          </a:xfrm>
          <a:prstGeom prst="ellipse">
            <a:avLst/>
          </a:prstGeom>
          <a:solidFill>
            <a:srgbClr val="5CBA8A"/>
          </a:solidFill>
          <a:ln w="12700">
            <a:solidFill>
              <a:srgbClr val="5CB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1945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Leveraged and YOLOv8 architectures for robust, scalable performance.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43784"/>
            <a:ext cx="256032" cy="256032"/>
          </a:xfrm>
          <a:prstGeom prst="ellipse">
            <a:avLst/>
          </a:prstGeom>
          <a:solidFill>
            <a:srgbClr val="5CBA8A"/>
          </a:solidFill>
          <a:ln w="12700">
            <a:solidFill>
              <a:srgbClr val="5CB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81635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96% classification accuracy with balanced precision &amp; recall.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465576"/>
            <a:ext cx="256032" cy="256032"/>
          </a:xfrm>
          <a:prstGeom prst="ellipse">
            <a:avLst/>
          </a:prstGeom>
          <a:solidFill>
            <a:srgbClr val="5CBA8A"/>
          </a:solidFill>
          <a:ln w="12700">
            <a:solidFill>
              <a:srgbClr val="5CB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43814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user-friendly web interface — farmers upload leaf images and receive instant diagnosis.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087368"/>
            <a:ext cx="256032" cy="256032"/>
          </a:xfrm>
          <a:prstGeom prst="ellipse">
            <a:avLst/>
          </a:prstGeom>
          <a:solidFill>
            <a:srgbClr val="5CBA8A"/>
          </a:solidFill>
          <a:ln w="12700">
            <a:solidFill>
              <a:srgbClr val="5CB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405993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real-world potential in precision agriculture to reduce crop loss.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188720"/>
            <a:ext cx="2743200" cy="3474720"/>
          </a:xfrm>
          <a:prstGeom prst="roundRect">
            <a:avLst>
              <a:gd name="adj" fmla="val 5000"/>
            </a:avLst>
          </a:prstGeom>
          <a:solidFill>
            <a:srgbClr val="1B5E38">
              <a:alpha val="80000"/>
            </a:srgb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13716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🌿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217920" y="21031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 Disease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17920" y="29260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5CB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52360" y="295351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0" y="345643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5CB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52360" y="348386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17920" y="398678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5CB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YOLOv8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52360" y="401421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2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914400"/>
            <a:ext cx="7315200" cy="7315200"/>
          </a:xfrm>
          <a:prstGeom prst="ellipse">
            <a:avLst/>
          </a:prstGeom>
          <a:solidFill>
            <a:srgbClr val="1B5E38">
              <a:alpha val="30000"/>
            </a:srgbClr>
          </a:solidFill>
          <a:ln w="12700">
            <a:solidFill>
              <a:srgbClr val="1B5E3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743200"/>
            <a:ext cx="5486400" cy="5486400"/>
          </a:xfrm>
          <a:prstGeom prst="ellipse">
            <a:avLst/>
          </a:prstGeom>
          <a:solidFill>
            <a:srgbClr val="2D8653">
              <a:alpha val="25000"/>
            </a:srgbClr>
          </a:solidFill>
          <a:ln w="12700">
            <a:solidFill>
              <a:srgbClr val="2D8653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114800" y="28346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🌿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3520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B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Abhinav Pradhan  ·  Mohit Anand  ·  Abhishek Singh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977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3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 |  Final Project Presentation</a:t>
            </a:r>
            <a:endParaRPr lang="en-US" sz="10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6A5637-DD2E-C200-8B9B-BB1F3DEB9E9B}"/>
              </a:ext>
            </a:extLst>
          </p:cNvPr>
          <p:cNvSpPr txBox="1"/>
          <p:nvPr/>
        </p:nvSpPr>
        <p:spPr>
          <a:xfrm>
            <a:off x="1144800" y="4226400"/>
            <a:ext cx="708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3"/>
              </a:rPr>
              <a:t>https://plant-disease-app-final-ppjpw5azn28mst3hdyeest.streamlit.app/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508</TotalTime>
  <Words>1674</Words>
  <Application>Microsoft Office PowerPoint</Application>
  <PresentationFormat>On-screen Show (16:9)</PresentationFormat>
  <Paragraphs>321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 Disease Detection using Image Classification</dc:title>
  <dc:subject>PptxGenJS Presentation</dc:subject>
  <dc:creator>Abhinav Pradhan, Mohit Anand &amp; Abhishek Singh</dc:creator>
  <cp:lastModifiedBy>Abhinav Pradhan</cp:lastModifiedBy>
  <cp:revision>6</cp:revision>
  <dcterms:created xsi:type="dcterms:W3CDTF">2026-06-10T03:26:17Z</dcterms:created>
  <dcterms:modified xsi:type="dcterms:W3CDTF">2026-10-19T05:19:46Z</dcterms:modified>
</cp:coreProperties>
</file>